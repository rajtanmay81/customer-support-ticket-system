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743200"/>
            <a:ext cx="5669280" cy="5669280"/>
          </a:xfrm>
          <a:prstGeom prst="ellipse">
            <a:avLst/>
          </a:prstGeom>
          <a:solidFill>
            <a:srgbClr val="12403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754880"/>
            <a:ext cx="5120640" cy="5120640"/>
          </a:xfrm>
          <a:prstGeom prst="ellipse">
            <a:avLst/>
          </a:prstGeom>
          <a:solidFill>
            <a:srgbClr val="12403D">
              <a:alpha val="3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16916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SUPPORT PLATFORM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574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</a:t>
            </a:r>
            <a:endParaRPr lang="en-US" sz="4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System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70332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ticketing platform where AI attempts every resolution first.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3160624" y="4151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12403D"/>
          </a:solidFill>
          <a:ln/>
        </p:spPr>
      </p:sp>
      <p:pic>
        <p:nvPicPr>
          <p:cNvPr id="8" name="Image 0" descr="/private/tmp/claude-501/-Users-mac-customer-support-ticket-system/de92ad24-2f07-4c6f-84a0-0b4a335c3cf9/scratchpad/ppt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6686" y="4287439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346808" y="48188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812384" y="4151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12403D"/>
          </a:solidFill>
          <a:ln/>
        </p:spPr>
      </p:sp>
      <p:pic>
        <p:nvPicPr>
          <p:cNvPr id="11" name="Image 1" descr="/private/tmp/claude-501/-Users-mac-customer-support-ticket-system/de92ad24-2f07-4c6f-84a0-0b4a335c3cf9/scratchpad/ppt/icons/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446" y="428743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98568" y="48188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Triage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464144" y="4151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12403D"/>
          </a:solidFill>
          <a:ln/>
        </p:spPr>
      </p:sp>
      <p:pic>
        <p:nvPicPr>
          <p:cNvPr id="14" name="Image 2" descr="/private/tmp/claude-501/-Users-mac-customer-support-ticket-system/de92ad24-2f07-4c6f-84a0-0b4a335c3cf9/scratchpad/ppt/icons/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0206" y="4287439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650328" y="48188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907128" y="5989320"/>
            <a:ext cx="2377440" cy="384048"/>
          </a:xfrm>
          <a:prstGeom prst="roundRect">
            <a:avLst>
              <a:gd name="adj" fmla="val 50000"/>
            </a:avLst>
          </a:prstGeom>
          <a:ln w="12700">
            <a:solidFill>
              <a:srgbClr val="1E4548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907128" y="59893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5F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743200"/>
            <a:ext cx="5669280" cy="5669280"/>
          </a:xfrm>
          <a:prstGeom prst="ellipse">
            <a:avLst/>
          </a:prstGeom>
          <a:solidFill>
            <a:srgbClr val="12403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754880"/>
            <a:ext cx="5120640" cy="5120640"/>
          </a:xfrm>
          <a:prstGeom prst="ellipse">
            <a:avLst/>
          </a:prstGeom>
          <a:solidFill>
            <a:srgbClr val="12403D">
              <a:alpha val="3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58952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777240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Ticket Still Waits on a Human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29844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password-reset request waits in the same queue as a critical outage.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8952" y="1965960"/>
            <a:ext cx="5199736" cy="1965960"/>
          </a:xfrm>
          <a:prstGeom prst="roundRect">
            <a:avLst>
              <a:gd name="adj" fmla="val 4651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" y="2212848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3A2A10"/>
          </a:solidFill>
          <a:ln/>
        </p:spPr>
      </p:sp>
      <p:pic>
        <p:nvPicPr>
          <p:cNvPr id="9" name="Image 0" descr="/private/tmp/claude-501/-Users-mac-customer-support-ticket-system/de92ad24-2f07-4c6f-84a0-0b4a335c3cf9/scratchpad/ppt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743" y="2335743"/>
            <a:ext cx="266273" cy="26627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19072" y="2221992"/>
            <a:ext cx="405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Ticket Waits on a Human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1078992" y="2880360"/>
            <a:ext cx="455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repetitive requests sit in the exact same queue as critical issues.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33008" y="1965960"/>
            <a:ext cx="5199736" cy="1965960"/>
          </a:xfrm>
          <a:prstGeom prst="roundRect">
            <a:avLst>
              <a:gd name="adj" fmla="val 4651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43904" y="2212848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3A2A10"/>
          </a:solidFill>
          <a:ln/>
        </p:spPr>
      </p:sp>
      <p:pic>
        <p:nvPicPr>
          <p:cNvPr id="14" name="Image 1" descr="/private/tmp/claude-501/-Users-mac-customer-support-ticket-system/de92ad24-2f07-4c6f-84a0-0b4a335c3cf9/scratchpad/ppt/icons/t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799" y="2335743"/>
            <a:ext cx="266273" cy="26627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93128" y="2221992"/>
            <a:ext cx="405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Is Manual and Inconsistent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6553048" y="2880360"/>
            <a:ext cx="455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reads, categorizes, and prioritizes every ticket by hand first.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58952" y="4206240"/>
            <a:ext cx="5199736" cy="1965960"/>
          </a:xfrm>
          <a:prstGeom prst="roundRect">
            <a:avLst>
              <a:gd name="adj" fmla="val 4651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069848" y="4453128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3A2A10"/>
          </a:solidFill>
          <a:ln/>
        </p:spPr>
      </p:sp>
      <p:pic>
        <p:nvPicPr>
          <p:cNvPr id="19" name="Image 2" descr="/private/tmp/claude-501/-Users-mac-customer-support-ticket-system/de92ad24-2f07-4c6f-84a0-0b4a335c3cf9/scratchpad/ppt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743" y="4576023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719072" y="4462272"/>
            <a:ext cx="405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Breaches Surface Too Late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1078992" y="5120640"/>
            <a:ext cx="455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Response-time commitments are noticed after the fact, not before.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233008" y="4206240"/>
            <a:ext cx="5199736" cy="1965960"/>
          </a:xfrm>
          <a:prstGeom prst="roundRect">
            <a:avLst>
              <a:gd name="adj" fmla="val 4651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43904" y="4453128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3A2A10"/>
          </a:solidFill>
          <a:ln/>
        </p:spPr>
      </p:sp>
      <p:pic>
        <p:nvPicPr>
          <p:cNvPr id="24" name="Image 3" descr="/private/tmp/claude-501/-Users-mac-customer-support-ticket-system/de92ad24-2f07-4c6f-84a0-0b4a335c3cf9/scratchpad/ppt/icons/archi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6799" y="4576023"/>
            <a:ext cx="266273" cy="26627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193128" y="4462272"/>
            <a:ext cx="405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Fixes Are Forgotten</a:t>
            </a:r>
            <a:endParaRPr lang="en-US" sz="1450" dirty="0"/>
          </a:p>
        </p:txBody>
      </p:sp>
      <p:sp>
        <p:nvSpPr>
          <p:cNvPr id="26" name="Text 20"/>
          <p:cNvSpPr txBox="1"/>
          <p:nvPr/>
        </p:nvSpPr>
        <p:spPr>
          <a:xfrm>
            <a:off x="6553048" y="5120640"/>
            <a:ext cx="455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re-solve problems from scratch with no searchable history.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589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F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TICKET SYSTEM</a:t>
            </a:r>
            <a:endParaRPr lang="en-US" sz="850" dirty="0"/>
          </a:p>
        </p:txBody>
      </p:sp>
      <p:sp>
        <p:nvSpPr>
          <p:cNvPr id="28" name="Text 22"/>
          <p:cNvSpPr txBox="1"/>
          <p:nvPr/>
        </p:nvSpPr>
        <p:spPr>
          <a:xfrm>
            <a:off x="9603943" y="6547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743200"/>
            <a:ext cx="5669280" cy="5669280"/>
          </a:xfrm>
          <a:prstGeom prst="ellipse">
            <a:avLst/>
          </a:prstGeom>
          <a:solidFill>
            <a:srgbClr val="12403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754880"/>
            <a:ext cx="5120640" cy="5120640"/>
          </a:xfrm>
          <a:prstGeom prst="ellipse">
            <a:avLst/>
          </a:prstGeom>
          <a:solidFill>
            <a:srgbClr val="12403D">
              <a:alpha val="3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58952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777240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That Actually Resolves Tickets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29844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ticketing platform where AI is load-bearing, not bolted 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8952" y="1874520"/>
            <a:ext cx="5199736" cy="1874520"/>
          </a:xfrm>
          <a:prstGeom prst="roundRect">
            <a:avLst>
              <a:gd name="adj" fmla="val 4878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" y="2093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DD4BF"/>
          </a:solidFill>
          <a:ln/>
        </p:spPr>
      </p:sp>
      <p:pic>
        <p:nvPicPr>
          <p:cNvPr id="9" name="Image 0" descr="/private/tmp/claude-501/-Users-mac-customer-support-ticket-system/de92ad24-2f07-4c6f-84a0-0b4a335c3cf9/scratchpad/ppt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911" y="2230039"/>
            <a:ext cx="294803" cy="29480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10512" y="2112264"/>
            <a:ext cx="391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Classifier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" y="2788920"/>
            <a:ext cx="446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Regression, trained in-house. Predicts category &amp; priority the instant a ticket is created — in-process, zero network calls.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33008" y="1874520"/>
            <a:ext cx="5199736" cy="1874520"/>
          </a:xfrm>
          <a:prstGeom prst="roundRect">
            <a:avLst>
              <a:gd name="adj" fmla="val 4878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43904" y="2093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DD4BF"/>
          </a:solidFill>
          <a:ln/>
        </p:spPr>
      </p:sp>
      <p:pic>
        <p:nvPicPr>
          <p:cNvPr id="14" name="Image 1" descr="/private/tmp/claude-501/-Users-mac-customer-support-ticket-system/de92ad24-2f07-4c6f-84a0-0b4a335c3cf9/scratchpad/ppt/icons/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966" y="223003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284568" y="2112264"/>
            <a:ext cx="391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AI Agent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6598768" y="2788920"/>
            <a:ext cx="446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with the customer directly and attempts a genuine resolution — a human only steps in when the AI can't help.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58952" y="4160520"/>
            <a:ext cx="2496998" cy="1508760"/>
          </a:xfrm>
          <a:prstGeom prst="roundRect">
            <a:avLst>
              <a:gd name="adj" fmla="val 6061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769707" y="436168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12403D"/>
          </a:solidFill>
          <a:ln/>
        </p:spPr>
      </p:sp>
      <p:pic>
        <p:nvPicPr>
          <p:cNvPr id="19" name="Image 2" descr="/private/tmp/claude-501/-Users-mac-customer-support-ticket-system/de92ad24-2f07-4c6f-84a0-0b4a335c3cf9/scratchpad/ppt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824" y="4475805"/>
            <a:ext cx="247254" cy="24725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0392" y="4937760"/>
            <a:ext cx="2314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SLA Clocks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68680" y="5276088"/>
            <a:ext cx="2277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Per-priority response &amp; resolution timers</a:t>
            </a:r>
            <a:endParaRPr lang="en-US" sz="980" dirty="0"/>
          </a:p>
        </p:txBody>
      </p:sp>
      <p:sp>
        <p:nvSpPr>
          <p:cNvPr id="22" name="Shape 17"/>
          <p:cNvSpPr/>
          <p:nvPr/>
        </p:nvSpPr>
        <p:spPr>
          <a:xfrm>
            <a:off x="3484550" y="4160520"/>
            <a:ext cx="2496998" cy="1508760"/>
          </a:xfrm>
          <a:prstGeom prst="roundRect">
            <a:avLst>
              <a:gd name="adj" fmla="val 6061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495305" y="436168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12403D"/>
          </a:solidFill>
          <a:ln/>
        </p:spPr>
      </p:sp>
      <p:pic>
        <p:nvPicPr>
          <p:cNvPr id="24" name="Image 3" descr="/private/tmp/claude-501/-Users-mac-customer-support-ticket-system/de92ad24-2f07-4c6f-84a0-0b4a335c3cf9/scratchpad/ppt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9422" y="4475805"/>
            <a:ext cx="247254" cy="24725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575990" y="4937760"/>
            <a:ext cx="2314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Assignment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3594278" y="5276088"/>
            <a:ext cx="2277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by workload + availability</a:t>
            </a:r>
            <a:endParaRPr lang="en-US" sz="980" dirty="0"/>
          </a:p>
        </p:txBody>
      </p:sp>
      <p:sp>
        <p:nvSpPr>
          <p:cNvPr id="27" name="Shape 21"/>
          <p:cNvSpPr/>
          <p:nvPr/>
        </p:nvSpPr>
        <p:spPr>
          <a:xfrm>
            <a:off x="6210148" y="4160520"/>
            <a:ext cx="2496998" cy="1508760"/>
          </a:xfrm>
          <a:prstGeom prst="roundRect">
            <a:avLst>
              <a:gd name="adj" fmla="val 6061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220903" y="436168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12403D"/>
          </a:solidFill>
          <a:ln/>
        </p:spPr>
      </p:sp>
      <p:pic>
        <p:nvPicPr>
          <p:cNvPr id="29" name="Image 4" descr="/private/tmp/claude-501/-Users-mac-customer-support-ticket-system/de92ad24-2f07-4c6f-84a0-0b4a335c3cf9/scratchpad/ppt/icons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5020" y="4475805"/>
            <a:ext cx="247254" cy="24725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301588" y="4937760"/>
            <a:ext cx="2314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Similar-Ticket Memory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6319876" y="5276088"/>
            <a:ext cx="2277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resolved tickets (pgvector)</a:t>
            </a:r>
            <a:endParaRPr lang="en-US" sz="980" dirty="0"/>
          </a:p>
        </p:txBody>
      </p:sp>
      <p:sp>
        <p:nvSpPr>
          <p:cNvPr id="32" name="Shape 25"/>
          <p:cNvSpPr/>
          <p:nvPr/>
        </p:nvSpPr>
        <p:spPr>
          <a:xfrm>
            <a:off x="8935745" y="4160520"/>
            <a:ext cx="2496998" cy="1508760"/>
          </a:xfrm>
          <a:prstGeom prst="roundRect">
            <a:avLst>
              <a:gd name="adj" fmla="val 6061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9946500" y="436168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12403D"/>
          </a:solidFill>
          <a:ln/>
        </p:spPr>
      </p:sp>
      <p:pic>
        <p:nvPicPr>
          <p:cNvPr id="34" name="Image 5" descr="/private/tmp/claude-501/-Users-mac-customer-support-ticket-system/de92ad24-2f07-4c6f-84a0-0b4a335c3cf9/scratchpad/ppt/icons/activit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0617" y="4475805"/>
            <a:ext cx="247254" cy="247254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027185" y="4937760"/>
            <a:ext cx="2314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Updates</a:t>
            </a:r>
            <a:endParaRPr lang="en-US" sz="1250" dirty="0"/>
          </a:p>
        </p:txBody>
      </p:sp>
      <p:sp>
        <p:nvSpPr>
          <p:cNvPr id="36" name="Text 28"/>
          <p:cNvSpPr txBox="1"/>
          <p:nvPr/>
        </p:nvSpPr>
        <p:spPr>
          <a:xfrm>
            <a:off x="9045473" y="5276088"/>
            <a:ext cx="2277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— no manual refresh</a:t>
            </a:r>
            <a:endParaRPr lang="en-US" sz="980" dirty="0"/>
          </a:p>
        </p:txBody>
      </p:sp>
      <p:sp>
        <p:nvSpPr>
          <p:cNvPr id="37" name="Text 29"/>
          <p:cNvSpPr txBox="1"/>
          <p:nvPr/>
        </p:nvSpPr>
        <p:spPr>
          <a:xfrm>
            <a:off x="758952" y="5989320"/>
            <a:ext cx="106737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 ·   PostgreSQL + pgvector   ·   React   ·   Google Gemini   ·   WebSockets</a:t>
            </a:r>
            <a:endParaRPr lang="en-US" sz="1050" dirty="0"/>
          </a:p>
        </p:txBody>
      </p:sp>
      <p:sp>
        <p:nvSpPr>
          <p:cNvPr id="38" name="Text 30"/>
          <p:cNvSpPr txBox="1"/>
          <p:nvPr/>
        </p:nvSpPr>
        <p:spPr>
          <a:xfrm>
            <a:off x="7589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F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TICKET SYSTEM</a:t>
            </a:r>
            <a:endParaRPr lang="en-US" sz="850" dirty="0"/>
          </a:p>
        </p:txBody>
      </p:sp>
      <p:sp>
        <p:nvSpPr>
          <p:cNvPr id="39" name="Text 31"/>
          <p:cNvSpPr txBox="1"/>
          <p:nvPr/>
        </p:nvSpPr>
        <p:spPr>
          <a:xfrm>
            <a:off x="9603943" y="6547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743200"/>
            <a:ext cx="5669280" cy="5669280"/>
          </a:xfrm>
          <a:prstGeom prst="ellipse">
            <a:avLst/>
          </a:prstGeom>
          <a:solidFill>
            <a:srgbClr val="12403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754880"/>
            <a:ext cx="5120640" cy="5120640"/>
          </a:xfrm>
          <a:prstGeom prst="ellipse">
            <a:avLst/>
          </a:prstGeom>
          <a:solidFill>
            <a:srgbClr val="12403D">
              <a:alpha val="3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58952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585216"/>
            <a:ext cx="106737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Ticket to Resolution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366760" y="347472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40496" y="256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AI-handled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573768" y="347472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47504" y="256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Human-handled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780776" y="347472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54512" y="256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92344" y="1033272"/>
            <a:ext cx="201168" cy="201168"/>
          </a:xfrm>
          <a:prstGeom prst="roundRect">
            <a:avLst>
              <a:gd name="adj" fmla="val 27273"/>
            </a:avLst>
          </a:prstGeom>
          <a:solidFill>
            <a:srgbClr val="12403D"/>
          </a:solidFill>
          <a:ln/>
        </p:spPr>
      </p:sp>
      <p:pic>
        <p:nvPicPr>
          <p:cNvPr id="13" name="Image 0" descr="/private/tmp/claude-501/-Users-mac-customer-support-ticket-system/de92ad24-2f07-4c6f-84a0-0b4a335c3cf9/scratchpad/ppt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0624" y="1081552"/>
            <a:ext cx="104607" cy="10460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803240" y="10241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95848" y="1243584"/>
            <a:ext cx="914" cy="54864"/>
          </a:xfrm>
          <a:prstGeom prst="line">
            <a:avLst/>
          </a:prstGeom>
          <a:noFill/>
          <a:ln w="15875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952848" y="1298448"/>
            <a:ext cx="2286000" cy="256032"/>
          </a:xfrm>
          <a:prstGeom prst="roundRect">
            <a:avLst>
              <a:gd name="adj" fmla="val 28571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07712" y="1334292"/>
            <a:ext cx="184343" cy="184343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/>
        </p:spPr>
      </p:sp>
      <p:pic>
        <p:nvPicPr>
          <p:cNvPr id="18" name="Image 1" descr="/private/tmp/claude-501/-Users-mac-customer-support-ticket-system/de92ad24-2f07-4c6f-84a0-0b4a335c3cf9/scratchpad/ppt/icons/ti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54" y="1378535"/>
            <a:ext cx="95858" cy="9585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283495" y="1298448"/>
            <a:ext cx="18822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3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Creation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095848" y="1554480"/>
            <a:ext cx="914" cy="54864"/>
          </a:xfrm>
          <a:prstGeom prst="line">
            <a:avLst/>
          </a:prstGeom>
          <a:noFill/>
          <a:ln w="15875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4632808" y="1609344"/>
            <a:ext cx="2926080" cy="402336"/>
          </a:xfrm>
          <a:prstGeom prst="diamond">
            <a:avLst/>
          </a:prstGeom>
          <a:solidFill>
            <a:srgbClr val="0F2B2E"/>
          </a:solidFill>
          <a:ln w="22225">
            <a:solidFill>
              <a:srgbClr val="2DD4B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042459" y="1609344"/>
            <a:ext cx="21067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Engine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 flipH="1">
            <a:off x="4221328" y="1810512"/>
            <a:ext cx="411480" cy="265176"/>
          </a:xfrm>
          <a:prstGeom prst="line">
            <a:avLst/>
          </a:prstGeom>
          <a:noFill/>
          <a:ln w="1397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7558888" y="1810512"/>
            <a:ext cx="411480" cy="265176"/>
          </a:xfrm>
          <a:prstGeom prst="line">
            <a:avLst/>
          </a:prstGeom>
          <a:noFill/>
          <a:ln w="1397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3352648" y="2075688"/>
            <a:ext cx="1737360" cy="237744"/>
          </a:xfrm>
          <a:prstGeom prst="roundRect">
            <a:avLst>
              <a:gd name="adj" fmla="val 30769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407512" y="2108972"/>
            <a:ext cx="171176" cy="171176"/>
          </a:xfrm>
          <a:prstGeom prst="roundRect">
            <a:avLst>
              <a:gd name="adj" fmla="val 30000"/>
            </a:avLst>
          </a:prstGeom>
          <a:solidFill>
            <a:srgbClr val="12403D"/>
          </a:solidFill>
          <a:ln/>
        </p:spPr>
      </p:sp>
      <p:pic>
        <p:nvPicPr>
          <p:cNvPr id="27" name="Image 2" descr="/private/tmp/claude-501/-Users-mac-customer-support-ticket-system/de92ad24-2f07-4c6f-84a0-0b4a335c3cf9/scratchpad/ppt/icons/fol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594" y="2150054"/>
            <a:ext cx="89011" cy="89011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3670127" y="2075688"/>
            <a:ext cx="1346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3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7101688" y="2075688"/>
            <a:ext cx="1737360" cy="237744"/>
          </a:xfrm>
          <a:prstGeom prst="roundRect">
            <a:avLst>
              <a:gd name="adj" fmla="val 30769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156552" y="2108972"/>
            <a:ext cx="171176" cy="171176"/>
          </a:xfrm>
          <a:prstGeom prst="roundRect">
            <a:avLst>
              <a:gd name="adj" fmla="val 30000"/>
            </a:avLst>
          </a:prstGeom>
          <a:solidFill>
            <a:srgbClr val="12403D"/>
          </a:solidFill>
          <a:ln/>
        </p:spPr>
      </p:sp>
      <p:pic>
        <p:nvPicPr>
          <p:cNvPr id="31" name="Image 3" descr="/private/tmp/claude-501/-Users-mac-customer-support-ticket-system/de92ad24-2f07-4c6f-84a0-0b4a335c3cf9/scratchpad/ppt/icons/trending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634" y="2150054"/>
            <a:ext cx="89011" cy="89011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419167" y="2075688"/>
            <a:ext cx="1346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3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4221328" y="2313432"/>
            <a:ext cx="1234440" cy="54864"/>
          </a:xfrm>
          <a:prstGeom prst="line">
            <a:avLst/>
          </a:prstGeom>
          <a:noFill/>
          <a:ln w="1397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 flipH="1">
            <a:off x="6735928" y="2313432"/>
            <a:ext cx="1234440" cy="54864"/>
          </a:xfrm>
          <a:prstGeom prst="line">
            <a:avLst/>
          </a:prstGeom>
          <a:noFill/>
          <a:ln w="1397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35" name="Shape 29"/>
          <p:cNvSpPr/>
          <p:nvPr/>
        </p:nvSpPr>
        <p:spPr>
          <a:xfrm>
            <a:off x="4678528" y="2368296"/>
            <a:ext cx="2834640" cy="237744"/>
          </a:xfrm>
          <a:prstGeom prst="roundRect">
            <a:avLst>
              <a:gd name="adj" fmla="val 30769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733392" y="2401580"/>
            <a:ext cx="171176" cy="171176"/>
          </a:xfrm>
          <a:prstGeom prst="roundRect">
            <a:avLst>
              <a:gd name="adj" fmla="val 30000"/>
            </a:avLst>
          </a:prstGeom>
          <a:solidFill>
            <a:srgbClr val="12403D"/>
          </a:solidFill>
          <a:ln/>
        </p:spPr>
      </p:sp>
      <p:pic>
        <p:nvPicPr>
          <p:cNvPr id="37" name="Image 4" descr="/private/tmp/claude-501/-Users-mac-customer-support-ticket-system/de92ad24-2f07-4c6f-84a0-0b4a335c3cf9/scratchpad/ppt/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4474" y="2442662"/>
            <a:ext cx="89011" cy="89011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4996007" y="2368296"/>
            <a:ext cx="2444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Consolidation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6095848" y="2606040"/>
            <a:ext cx="914" cy="54864"/>
          </a:xfrm>
          <a:prstGeom prst="line">
            <a:avLst/>
          </a:prstGeom>
          <a:noFill/>
          <a:ln w="15875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0" name="Shape 33"/>
          <p:cNvSpPr/>
          <p:nvPr/>
        </p:nvSpPr>
        <p:spPr>
          <a:xfrm>
            <a:off x="4678528" y="2660904"/>
            <a:ext cx="2834640" cy="237744"/>
          </a:xfrm>
          <a:prstGeom prst="roundRect">
            <a:avLst>
              <a:gd name="adj" fmla="val 30769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4733392" y="2694188"/>
            <a:ext cx="171176" cy="171176"/>
          </a:xfrm>
          <a:prstGeom prst="roundRect">
            <a:avLst>
              <a:gd name="adj" fmla="val 30000"/>
            </a:avLst>
          </a:prstGeom>
          <a:solidFill>
            <a:srgbClr val="12403D"/>
          </a:solidFill>
          <a:ln/>
        </p:spPr>
      </p:sp>
      <p:pic>
        <p:nvPicPr>
          <p:cNvPr id="42" name="Image 5" descr="/private/tmp/claude-501/-Users-mac-customer-support-ticket-system/de92ad24-2f07-4c6f-84a0-0b4a335c3cf9/scratchpad/ppt/icons/c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4474" y="2735270"/>
            <a:ext cx="89011" cy="89011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4996007" y="2660904"/>
            <a:ext cx="2444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Generation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6095848" y="2898648"/>
            <a:ext cx="914" cy="9144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5" name="Shape 37"/>
          <p:cNvSpPr/>
          <p:nvPr/>
        </p:nvSpPr>
        <p:spPr>
          <a:xfrm>
            <a:off x="4587088" y="2990088"/>
            <a:ext cx="3017520" cy="402336"/>
          </a:xfrm>
          <a:prstGeom prst="diamond">
            <a:avLst/>
          </a:prstGeom>
          <a:solidFill>
            <a:srgbClr val="0F2B2E"/>
          </a:solidFill>
          <a:ln w="22225">
            <a:solidFill>
              <a:srgbClr val="2DD4BF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5009540" y="2990088"/>
            <a:ext cx="21726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CORE</a:t>
            </a:r>
            <a:endParaRPr lang="en-US" sz="1150" dirty="0"/>
          </a:p>
        </p:txBody>
      </p:sp>
      <p:sp>
        <p:nvSpPr>
          <p:cNvPr id="47" name="Shape 39"/>
          <p:cNvSpPr/>
          <p:nvPr/>
        </p:nvSpPr>
        <p:spPr>
          <a:xfrm>
            <a:off x="1135228" y="3337560"/>
            <a:ext cx="3429000" cy="2798064"/>
          </a:xfrm>
          <a:prstGeom prst="roundRect">
            <a:avLst>
              <a:gd name="adj" fmla="val 3268"/>
            </a:avLst>
          </a:prstGeom>
          <a:solidFill>
            <a:srgbClr val="0C2326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 flipH="1">
            <a:off x="2849728" y="3191256"/>
            <a:ext cx="1737360" cy="91440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9" name="Shape 41"/>
          <p:cNvSpPr/>
          <p:nvPr/>
        </p:nvSpPr>
        <p:spPr>
          <a:xfrm>
            <a:off x="1546708" y="4105656"/>
            <a:ext cx="2606040" cy="329184"/>
          </a:xfrm>
          <a:prstGeom prst="roundRect">
            <a:avLst>
              <a:gd name="adj" fmla="val 22222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1601572" y="4151742"/>
            <a:ext cx="237012" cy="237012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/>
        </p:spPr>
      </p:sp>
      <p:pic>
        <p:nvPicPr>
          <p:cNvPr id="51" name="Image 6" descr="/private/tmp/claude-501/-Users-mac-customer-support-ticket-system/de92ad24-2f07-4c6f-84a0-0b4a335c3cf9/scratchpad/ppt/icons/cpu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8455" y="4208625"/>
            <a:ext cx="123246" cy="123246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1930024" y="4105656"/>
            <a:ext cx="21495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3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Resolution Module</a:t>
            </a:r>
            <a:endParaRPr lang="en-US" sz="1050" dirty="0"/>
          </a:p>
        </p:txBody>
      </p:sp>
      <p:sp>
        <p:nvSpPr>
          <p:cNvPr id="53" name="Shape 44"/>
          <p:cNvSpPr/>
          <p:nvPr/>
        </p:nvSpPr>
        <p:spPr>
          <a:xfrm>
            <a:off x="2849728" y="4434840"/>
            <a:ext cx="914" cy="164592"/>
          </a:xfrm>
          <a:prstGeom prst="line">
            <a:avLst/>
          </a:prstGeom>
          <a:noFill/>
          <a:ln w="15875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54" name="Shape 45"/>
          <p:cNvSpPr/>
          <p:nvPr/>
        </p:nvSpPr>
        <p:spPr>
          <a:xfrm>
            <a:off x="1546708" y="4599432"/>
            <a:ext cx="2606040" cy="329184"/>
          </a:xfrm>
          <a:prstGeom prst="roundRect">
            <a:avLst>
              <a:gd name="adj" fmla="val 22222"/>
            </a:avLst>
          </a:prstGeom>
          <a:solidFill>
            <a:srgbClr val="0F3A2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1601572" y="4645518"/>
            <a:ext cx="237012" cy="237012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/>
        </p:spPr>
      </p:sp>
      <p:pic>
        <p:nvPicPr>
          <p:cNvPr id="56" name="Image 7" descr="/private/tmp/claude-501/-Users-mac-customer-support-ticket-system/de92ad24-2f07-4c6f-84a0-0b4a335c3cf9/scratchpad/ppt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8455" y="4702401"/>
            <a:ext cx="123246" cy="123246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1930024" y="4599432"/>
            <a:ext cx="21495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200" dirty="0"/>
          </a:p>
        </p:txBody>
      </p:sp>
      <p:sp>
        <p:nvSpPr>
          <p:cNvPr id="58" name="Shape 48"/>
          <p:cNvSpPr/>
          <p:nvPr/>
        </p:nvSpPr>
        <p:spPr>
          <a:xfrm>
            <a:off x="1734160" y="508406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16332F"/>
          </a:solidFill>
          <a:ln/>
        </p:spPr>
      </p:sp>
      <p:pic>
        <p:nvPicPr>
          <p:cNvPr id="59" name="Image 8" descr="/private/tmp/claude-501/-Users-mac-customer-support-ticket-system/de92ad24-2f07-4c6f-84a0-0b4a335c3cf9/scratchpad/ppt/icons/clou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51" y="5127955"/>
            <a:ext cx="95098" cy="95098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2026768" y="5074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i="1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+ vector embedding stored</a:t>
            </a:r>
            <a:endParaRPr lang="en-US" sz="870" dirty="0"/>
          </a:p>
        </p:txBody>
      </p:sp>
      <p:sp>
        <p:nvSpPr>
          <p:cNvPr id="61" name="Shape 50"/>
          <p:cNvSpPr/>
          <p:nvPr/>
        </p:nvSpPr>
        <p:spPr>
          <a:xfrm>
            <a:off x="5638648" y="3337560"/>
            <a:ext cx="5943600" cy="2798064"/>
          </a:xfrm>
          <a:prstGeom prst="roundRect">
            <a:avLst>
              <a:gd name="adj" fmla="val 3268"/>
            </a:avLst>
          </a:prstGeom>
          <a:solidFill>
            <a:srgbClr val="0C2326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62" name="Shape 51"/>
          <p:cNvSpPr/>
          <p:nvPr/>
        </p:nvSpPr>
        <p:spPr>
          <a:xfrm>
            <a:off x="7604608" y="3191256"/>
            <a:ext cx="1005840" cy="36576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63" name="Shape 52"/>
          <p:cNvSpPr/>
          <p:nvPr/>
        </p:nvSpPr>
        <p:spPr>
          <a:xfrm>
            <a:off x="7010248" y="3557016"/>
            <a:ext cx="3200400" cy="265176"/>
          </a:xfrm>
          <a:prstGeom prst="roundRect">
            <a:avLst>
              <a:gd name="adj" fmla="val 27586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64" name="Shape 53"/>
          <p:cNvSpPr/>
          <p:nvPr/>
        </p:nvSpPr>
        <p:spPr>
          <a:xfrm>
            <a:off x="7065112" y="3594141"/>
            <a:ext cx="190927" cy="190927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/>
        </p:spPr>
      </p:sp>
      <p:pic>
        <p:nvPicPr>
          <p:cNvPr id="65" name="Image 9" descr="/private/tmp/claude-501/-Users-mac-customer-support-ticket-system/de92ad24-2f07-4c6f-84a0-0b4a335c3cf9/scratchpad/ppt/icons/headse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0934" y="3639963"/>
            <a:ext cx="99282" cy="99282"/>
          </a:xfrm>
          <a:prstGeom prst="rect">
            <a:avLst/>
          </a:prstGeom>
        </p:spPr>
      </p:pic>
      <p:sp>
        <p:nvSpPr>
          <p:cNvPr id="66" name="Text 54"/>
          <p:cNvSpPr txBox="1"/>
          <p:nvPr/>
        </p:nvSpPr>
        <p:spPr>
          <a:xfrm>
            <a:off x="7347478" y="3557016"/>
            <a:ext cx="2790017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3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Agent Dispatch</a:t>
            </a:r>
            <a:endParaRPr lang="en-US" sz="1050" dirty="0"/>
          </a:p>
        </p:txBody>
      </p:sp>
      <p:sp>
        <p:nvSpPr>
          <p:cNvPr id="67" name="Shape 55"/>
          <p:cNvSpPr/>
          <p:nvPr/>
        </p:nvSpPr>
        <p:spPr>
          <a:xfrm>
            <a:off x="8610448" y="3822192"/>
            <a:ext cx="914" cy="91440"/>
          </a:xfrm>
          <a:prstGeom prst="line">
            <a:avLst/>
          </a:prstGeom>
          <a:noFill/>
          <a:ln w="1587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68" name="Shape 56"/>
          <p:cNvSpPr/>
          <p:nvPr/>
        </p:nvSpPr>
        <p:spPr>
          <a:xfrm>
            <a:off x="7010248" y="3913632"/>
            <a:ext cx="3200400" cy="265176"/>
          </a:xfrm>
          <a:prstGeom prst="roundRect">
            <a:avLst>
              <a:gd name="adj" fmla="val 27586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69" name="Shape 57"/>
          <p:cNvSpPr/>
          <p:nvPr/>
        </p:nvSpPr>
        <p:spPr>
          <a:xfrm>
            <a:off x="7065112" y="3950757"/>
            <a:ext cx="190927" cy="190927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/>
        </p:spPr>
      </p:sp>
      <p:pic>
        <p:nvPicPr>
          <p:cNvPr id="70" name="Image 10" descr="/private/tmp/claude-501/-Users-mac-customer-support-ticket-system/de92ad24-2f07-4c6f-84a0-0b4a335c3cf9/scratchpad/ppt/icons/messag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0934" y="3996579"/>
            <a:ext cx="99282" cy="99282"/>
          </a:xfrm>
          <a:prstGeom prst="rect">
            <a:avLst/>
          </a:prstGeom>
        </p:spPr>
      </p:pic>
      <p:sp>
        <p:nvSpPr>
          <p:cNvPr id="71" name="Text 58"/>
          <p:cNvSpPr txBox="1"/>
          <p:nvPr/>
        </p:nvSpPr>
        <p:spPr>
          <a:xfrm>
            <a:off x="7347478" y="3913632"/>
            <a:ext cx="2790017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3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Response</a:t>
            </a:r>
            <a:endParaRPr lang="en-US" sz="1050" dirty="0"/>
          </a:p>
        </p:txBody>
      </p:sp>
      <p:sp>
        <p:nvSpPr>
          <p:cNvPr id="72" name="Shape 59"/>
          <p:cNvSpPr/>
          <p:nvPr/>
        </p:nvSpPr>
        <p:spPr>
          <a:xfrm>
            <a:off x="8610448" y="4178808"/>
            <a:ext cx="914" cy="91440"/>
          </a:xfrm>
          <a:prstGeom prst="line">
            <a:avLst/>
          </a:prstGeom>
          <a:noFill/>
          <a:ln w="1587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73" name="Shape 60"/>
          <p:cNvSpPr/>
          <p:nvPr/>
        </p:nvSpPr>
        <p:spPr>
          <a:xfrm>
            <a:off x="7010248" y="4270248"/>
            <a:ext cx="3200400" cy="265176"/>
          </a:xfrm>
          <a:prstGeom prst="roundRect">
            <a:avLst>
              <a:gd name="adj" fmla="val 27586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74" name="Shape 61"/>
          <p:cNvSpPr/>
          <p:nvPr/>
        </p:nvSpPr>
        <p:spPr>
          <a:xfrm>
            <a:off x="7065112" y="4307373"/>
            <a:ext cx="190927" cy="190927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/>
        </p:spPr>
      </p:sp>
      <p:pic>
        <p:nvPicPr>
          <p:cNvPr id="75" name="Image 11" descr="/private/tmp/claude-501/-Users-mac-customer-support-ticket-system/de92ad24-2f07-4c6f-84a0-0b4a335c3cf9/scratchpad/ppt/icons/us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10934" y="4353195"/>
            <a:ext cx="99282" cy="99282"/>
          </a:xfrm>
          <a:prstGeom prst="rect">
            <a:avLst/>
          </a:prstGeom>
        </p:spPr>
      </p:pic>
      <p:sp>
        <p:nvSpPr>
          <p:cNvPr id="76" name="Text 62"/>
          <p:cNvSpPr txBox="1"/>
          <p:nvPr/>
        </p:nvSpPr>
        <p:spPr>
          <a:xfrm>
            <a:off x="7347478" y="4270248"/>
            <a:ext cx="2790017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3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Reply</a:t>
            </a:r>
            <a:endParaRPr lang="en-US" sz="1050" dirty="0"/>
          </a:p>
        </p:txBody>
      </p:sp>
      <p:sp>
        <p:nvSpPr>
          <p:cNvPr id="77" name="Shape 63"/>
          <p:cNvSpPr/>
          <p:nvPr/>
        </p:nvSpPr>
        <p:spPr>
          <a:xfrm>
            <a:off x="8610448" y="4535424"/>
            <a:ext cx="914" cy="91440"/>
          </a:xfrm>
          <a:prstGeom prst="line">
            <a:avLst/>
          </a:prstGeom>
          <a:noFill/>
          <a:ln w="1587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78" name="Shape 64"/>
          <p:cNvSpPr/>
          <p:nvPr/>
        </p:nvSpPr>
        <p:spPr>
          <a:xfrm>
            <a:off x="7010248" y="4626864"/>
            <a:ext cx="3200400" cy="265176"/>
          </a:xfrm>
          <a:prstGeom prst="roundRect">
            <a:avLst>
              <a:gd name="adj" fmla="val 27586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79" name="Shape 65"/>
          <p:cNvSpPr/>
          <p:nvPr/>
        </p:nvSpPr>
        <p:spPr>
          <a:xfrm>
            <a:off x="7065112" y="4663989"/>
            <a:ext cx="190927" cy="190927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/>
        </p:spPr>
      </p:sp>
      <p:pic>
        <p:nvPicPr>
          <p:cNvPr id="80" name="Image 12" descr="/private/tmp/claude-501/-Users-mac-customer-support-ticket-system/de92ad24-2f07-4c6f-84a0-0b4a335c3cf9/scratchpad/ppt/icons/activit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0934" y="4709811"/>
            <a:ext cx="99282" cy="99282"/>
          </a:xfrm>
          <a:prstGeom prst="rect">
            <a:avLst/>
          </a:prstGeom>
        </p:spPr>
      </p:pic>
      <p:sp>
        <p:nvSpPr>
          <p:cNvPr id="81" name="Text 66"/>
          <p:cNvSpPr txBox="1"/>
          <p:nvPr/>
        </p:nvSpPr>
        <p:spPr>
          <a:xfrm>
            <a:off x="7347478" y="4626864"/>
            <a:ext cx="2790017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3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Loop</a:t>
            </a:r>
            <a:endParaRPr lang="en-US" sz="1050" dirty="0"/>
          </a:p>
        </p:txBody>
      </p:sp>
      <p:sp>
        <p:nvSpPr>
          <p:cNvPr id="82" name="Shape 67"/>
          <p:cNvSpPr/>
          <p:nvPr/>
        </p:nvSpPr>
        <p:spPr>
          <a:xfrm>
            <a:off x="8610448" y="4892040"/>
            <a:ext cx="914" cy="91440"/>
          </a:xfrm>
          <a:prstGeom prst="line">
            <a:avLst/>
          </a:prstGeom>
          <a:noFill/>
          <a:ln w="1587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83" name="Shape 68"/>
          <p:cNvSpPr/>
          <p:nvPr/>
        </p:nvSpPr>
        <p:spPr>
          <a:xfrm>
            <a:off x="7284568" y="4983480"/>
            <a:ext cx="2651760" cy="384048"/>
          </a:xfrm>
          <a:prstGeom prst="diamond">
            <a:avLst/>
          </a:prstGeom>
          <a:solidFill>
            <a:srgbClr val="0F2B2E"/>
          </a:solidFill>
          <a:ln w="22225">
            <a:solidFill>
              <a:srgbClr val="F5A623"/>
            </a:solidFill>
            <a:prstDash val="solid"/>
          </a:ln>
        </p:spPr>
      </p:sp>
      <p:sp>
        <p:nvSpPr>
          <p:cNvPr id="84" name="Text 69"/>
          <p:cNvSpPr txBox="1"/>
          <p:nvPr/>
        </p:nvSpPr>
        <p:spPr>
          <a:xfrm>
            <a:off x="7655814" y="4983480"/>
            <a:ext cx="19092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Loop Analyzer</a:t>
            </a:r>
            <a:endParaRPr lang="en-US" sz="1050" dirty="0"/>
          </a:p>
        </p:txBody>
      </p:sp>
      <p:sp>
        <p:nvSpPr>
          <p:cNvPr id="85" name="Shape 70"/>
          <p:cNvSpPr/>
          <p:nvPr/>
        </p:nvSpPr>
        <p:spPr>
          <a:xfrm flipH="1">
            <a:off x="7193128" y="5175504"/>
            <a:ext cx="91440" cy="301752"/>
          </a:xfrm>
          <a:prstGeom prst="line">
            <a:avLst/>
          </a:prstGeom>
          <a:noFill/>
          <a:ln w="15875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86" name="Shape 71"/>
          <p:cNvSpPr/>
          <p:nvPr/>
        </p:nvSpPr>
        <p:spPr>
          <a:xfrm>
            <a:off x="9936328" y="5175504"/>
            <a:ext cx="91440" cy="301752"/>
          </a:xfrm>
          <a:prstGeom prst="line">
            <a:avLst/>
          </a:prstGeom>
          <a:noFill/>
          <a:ln w="1587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87" name="Shape 72"/>
          <p:cNvSpPr/>
          <p:nvPr/>
        </p:nvSpPr>
        <p:spPr>
          <a:xfrm>
            <a:off x="5935828" y="5477256"/>
            <a:ext cx="2514600" cy="438912"/>
          </a:xfrm>
          <a:prstGeom prst="roundRect">
            <a:avLst>
              <a:gd name="adj" fmla="val 18750"/>
            </a:avLst>
          </a:prstGeom>
          <a:solidFill>
            <a:srgbClr val="12403D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88" name="Text 73"/>
          <p:cNvSpPr txBox="1"/>
          <p:nvPr/>
        </p:nvSpPr>
        <p:spPr>
          <a:xfrm>
            <a:off x="6045556" y="5477256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&lt; 2 — AI Auto-Reply</a:t>
            </a:r>
            <a:endParaRPr lang="en-US" sz="1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resolution, conversation continues</a:t>
            </a:r>
            <a:endParaRPr lang="en-US" sz="1000" dirty="0"/>
          </a:p>
        </p:txBody>
      </p:sp>
      <p:sp>
        <p:nvSpPr>
          <p:cNvPr id="89" name="Shape 74"/>
          <p:cNvSpPr/>
          <p:nvPr/>
        </p:nvSpPr>
        <p:spPr>
          <a:xfrm>
            <a:off x="8770468" y="5477256"/>
            <a:ext cx="2514600" cy="438912"/>
          </a:xfrm>
          <a:prstGeom prst="roundRect">
            <a:avLst>
              <a:gd name="adj" fmla="val 18750"/>
            </a:avLst>
          </a:prstGeom>
          <a:solidFill>
            <a:srgbClr val="F5A623"/>
          </a:solidFill>
          <a:ln/>
        </p:spPr>
      </p:sp>
      <p:sp>
        <p:nvSpPr>
          <p:cNvPr id="90" name="Text 75"/>
          <p:cNvSpPr txBox="1"/>
          <p:nvPr/>
        </p:nvSpPr>
        <p:spPr>
          <a:xfrm>
            <a:off x="8880196" y="5477256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0A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≥ 2 — Escalate</a:t>
            </a:r>
            <a:endParaRPr lang="en-US" sz="1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A2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agent assignment, human-led handling</a:t>
            </a:r>
            <a:endParaRPr lang="en-US" sz="1000" dirty="0"/>
          </a:p>
        </p:txBody>
      </p:sp>
      <p:sp>
        <p:nvSpPr>
          <p:cNvPr id="91" name="Shape 76"/>
          <p:cNvSpPr/>
          <p:nvPr/>
        </p:nvSpPr>
        <p:spPr>
          <a:xfrm flipH="1">
            <a:off x="4815688" y="5696712"/>
            <a:ext cx="1257300" cy="914"/>
          </a:xfrm>
          <a:prstGeom prst="line">
            <a:avLst/>
          </a:prstGeom>
          <a:noFill/>
          <a:ln w="15875">
            <a:solidFill>
              <a:srgbClr val="2DD4BF"/>
            </a:solidFill>
            <a:prstDash val="solid"/>
            <a:tailEnd type="none"/>
          </a:ln>
        </p:spPr>
      </p:sp>
      <p:sp>
        <p:nvSpPr>
          <p:cNvPr id="92" name="Shape 77"/>
          <p:cNvSpPr/>
          <p:nvPr/>
        </p:nvSpPr>
        <p:spPr>
          <a:xfrm flipV="1">
            <a:off x="4815688" y="4759452"/>
            <a:ext cx="914" cy="937260"/>
          </a:xfrm>
          <a:prstGeom prst="line">
            <a:avLst/>
          </a:prstGeom>
          <a:noFill/>
          <a:ln w="15875">
            <a:solidFill>
              <a:srgbClr val="2DD4BF"/>
            </a:solidFill>
            <a:prstDash val="solid"/>
            <a:tailEnd type="none"/>
          </a:ln>
        </p:spPr>
      </p:sp>
      <p:sp>
        <p:nvSpPr>
          <p:cNvPr id="93" name="Shape 78"/>
          <p:cNvSpPr/>
          <p:nvPr/>
        </p:nvSpPr>
        <p:spPr>
          <a:xfrm>
            <a:off x="4815688" y="4759452"/>
            <a:ext cx="2194560" cy="914"/>
          </a:xfrm>
          <a:prstGeom prst="line">
            <a:avLst/>
          </a:prstGeom>
          <a:noFill/>
          <a:ln w="15875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94" name="Text 79"/>
          <p:cNvSpPr txBox="1"/>
          <p:nvPr/>
        </p:nvSpPr>
        <p:spPr>
          <a:xfrm>
            <a:off x="7589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F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TICKET SYSTEM</a:t>
            </a:r>
            <a:endParaRPr lang="en-US" sz="850" dirty="0"/>
          </a:p>
        </p:txBody>
      </p:sp>
      <p:sp>
        <p:nvSpPr>
          <p:cNvPr id="95" name="Text 80"/>
          <p:cNvSpPr txBox="1"/>
          <p:nvPr/>
        </p:nvSpPr>
        <p:spPr>
          <a:xfrm>
            <a:off x="9603943" y="6547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743200"/>
            <a:ext cx="5669280" cy="5669280"/>
          </a:xfrm>
          <a:prstGeom prst="ellipse">
            <a:avLst/>
          </a:prstGeom>
          <a:solidFill>
            <a:srgbClr val="12403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754880"/>
            <a:ext cx="5120640" cy="5120640"/>
          </a:xfrm>
          <a:prstGeom prst="ellipse">
            <a:avLst/>
          </a:prstGeom>
          <a:solidFill>
            <a:srgbClr val="12403D">
              <a:alpha val="3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58952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777240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58952" y="1874520"/>
            <a:ext cx="3387242" cy="1874520"/>
          </a:xfrm>
          <a:prstGeom prst="roundRect">
            <a:avLst>
              <a:gd name="adj" fmla="val 4878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093976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12403D"/>
          </a:solidFill>
          <a:ln/>
        </p:spPr>
      </p:sp>
      <p:pic>
        <p:nvPicPr>
          <p:cNvPr id="8" name="Image 0" descr="/private/tmp/claude-501/-Users-mac-customer-support-ticket-system/de92ad24-2f07-4c6f-84a0-0b4a335c3cf9/scratchpad/ppt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677" y="2208093"/>
            <a:ext cx="247254" cy="24725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14984" y="2734056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Resolution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14984" y="3081528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issues get solved immediately by AI — no queue, no wait for a free agent.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402226" y="1874520"/>
            <a:ext cx="3387242" cy="1874520"/>
          </a:xfrm>
          <a:prstGeom prst="roundRect">
            <a:avLst>
              <a:gd name="adj" fmla="val 4878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94834" y="2093976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12403D"/>
          </a:solidFill>
          <a:ln/>
        </p:spPr>
      </p:sp>
      <p:pic>
        <p:nvPicPr>
          <p:cNvPr id="13" name="Image 1" descr="/private/tmp/claude-501/-Users-mac-customer-support-ticket-system/de92ad24-2f07-4c6f-84a0-0b4a335c3cf9/scratchpad/ppt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952" y="2208093"/>
            <a:ext cx="247254" cy="24725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58258" y="2734056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Lighter Agent Workload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658258" y="3081528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only see tickets that truly need a human — hard problems and edge cases.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8045501" y="1874520"/>
            <a:ext cx="3387242" cy="1874520"/>
          </a:xfrm>
          <a:prstGeom prst="roundRect">
            <a:avLst>
              <a:gd name="adj" fmla="val 4878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38109" y="2093976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12403D"/>
          </a:solidFill>
          <a:ln/>
        </p:spPr>
      </p:sp>
      <p:pic>
        <p:nvPicPr>
          <p:cNvPr id="18" name="Image 2" descr="/private/tmp/claude-501/-Users-mac-customer-support-ticket-system/de92ad24-2f07-4c6f-84a0-0b4a335c3cf9/scratchpad/ppt/icons/t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226" y="2208093"/>
            <a:ext cx="247254" cy="24725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01533" y="2734056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Triage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301533" y="3081528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gets the same instant, unbiased category and priority call.</a:t>
            </a:r>
            <a:endParaRPr lang="en-US" sz="1080" dirty="0"/>
          </a:p>
        </p:txBody>
      </p:sp>
      <p:sp>
        <p:nvSpPr>
          <p:cNvPr id="21" name="Shape 16"/>
          <p:cNvSpPr/>
          <p:nvPr/>
        </p:nvSpPr>
        <p:spPr>
          <a:xfrm>
            <a:off x="758952" y="4005072"/>
            <a:ext cx="3387242" cy="1874520"/>
          </a:xfrm>
          <a:prstGeom prst="roundRect">
            <a:avLst>
              <a:gd name="adj" fmla="val 4878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51560" y="422452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12403D"/>
          </a:solidFill>
          <a:ln/>
        </p:spPr>
      </p:sp>
      <p:pic>
        <p:nvPicPr>
          <p:cNvPr id="23" name="Image 3" descr="/private/tmp/claude-501/-Users-mac-customer-support-ticket-system/de92ad24-2f07-4c6f-84a0-0b4a335c3cf9/scratchpad/ppt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677" y="4338645"/>
            <a:ext cx="247254" cy="24725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14984" y="4864608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Slips Silently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1014984" y="521208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Per-priority SLA clocks surface at-risk tickets before they breach, not after.</a:t>
            </a:r>
            <a:endParaRPr lang="en-US" sz="1080" dirty="0"/>
          </a:p>
        </p:txBody>
      </p:sp>
      <p:sp>
        <p:nvSpPr>
          <p:cNvPr id="26" name="Shape 20"/>
          <p:cNvSpPr/>
          <p:nvPr/>
        </p:nvSpPr>
        <p:spPr>
          <a:xfrm>
            <a:off x="4402226" y="4005072"/>
            <a:ext cx="3387242" cy="1874520"/>
          </a:xfrm>
          <a:prstGeom prst="roundRect">
            <a:avLst>
              <a:gd name="adj" fmla="val 4878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694834" y="422452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12403D"/>
          </a:solidFill>
          <a:ln/>
        </p:spPr>
      </p:sp>
      <p:pic>
        <p:nvPicPr>
          <p:cNvPr id="28" name="Image 4" descr="/private/tmp/claude-501/-Users-mac-customer-support-ticket-system/de92ad24-2f07-4c6f-84a0-0b4a335c3cf9/scratchpad/ppt/icons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8952" y="4338645"/>
            <a:ext cx="247254" cy="24725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658258" y="4864608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Memory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4658258" y="521208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resolved ticket becomes searchable context — for the AI and for agents.</a:t>
            </a:r>
            <a:endParaRPr lang="en-US" sz="1080" dirty="0"/>
          </a:p>
        </p:txBody>
      </p:sp>
      <p:sp>
        <p:nvSpPr>
          <p:cNvPr id="31" name="Shape 24"/>
          <p:cNvSpPr/>
          <p:nvPr/>
        </p:nvSpPr>
        <p:spPr>
          <a:xfrm>
            <a:off x="8045501" y="4005072"/>
            <a:ext cx="3387242" cy="1874520"/>
          </a:xfrm>
          <a:prstGeom prst="roundRect">
            <a:avLst>
              <a:gd name="adj" fmla="val 4878"/>
            </a:avLst>
          </a:prstGeom>
          <a:solidFill>
            <a:srgbClr val="0F2B2E"/>
          </a:solidFill>
          <a:ln w="12700">
            <a:solidFill>
              <a:srgbClr val="1E454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338109" y="422452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12403D"/>
          </a:solidFill>
          <a:ln/>
        </p:spPr>
      </p:sp>
      <p:pic>
        <p:nvPicPr>
          <p:cNvPr id="33" name="Image 5" descr="/private/tmp/claude-501/-Users-mac-customer-support-ticket-system/de92ad24-2f07-4c6f-84a0-0b4a335c3cf9/scratchpad/ppt/icons/ey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226" y="4338645"/>
            <a:ext cx="247254" cy="24725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301533" y="4864608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Transparency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8301533" y="521208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AI's original guess, every reply, and every escalation reason stay on the record.</a:t>
            </a:r>
            <a:endParaRPr lang="en-US" sz="1080" dirty="0"/>
          </a:p>
        </p:txBody>
      </p:sp>
      <p:sp>
        <p:nvSpPr>
          <p:cNvPr id="36" name="Text 28"/>
          <p:cNvSpPr txBox="1"/>
          <p:nvPr/>
        </p:nvSpPr>
        <p:spPr>
          <a:xfrm>
            <a:off x="7589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F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TICKET SYSTEM</a:t>
            </a:r>
            <a:endParaRPr lang="en-US" sz="850" dirty="0"/>
          </a:p>
        </p:txBody>
      </p:sp>
      <p:sp>
        <p:nvSpPr>
          <p:cNvPr id="37" name="Text 29"/>
          <p:cNvSpPr txBox="1"/>
          <p:nvPr/>
        </p:nvSpPr>
        <p:spPr>
          <a:xfrm>
            <a:off x="9603943" y="6547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743200"/>
            <a:ext cx="5669280" cy="5669280"/>
          </a:xfrm>
          <a:prstGeom prst="ellipse">
            <a:avLst/>
          </a:prstGeom>
          <a:solidFill>
            <a:srgbClr val="12403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754880"/>
            <a:ext cx="5120640" cy="5120640"/>
          </a:xfrm>
          <a:prstGeom prst="ellipse">
            <a:avLst/>
          </a:prstGeom>
          <a:solidFill>
            <a:srgbClr val="12403D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1508" y="1851660"/>
            <a:ext cx="868680" cy="868680"/>
          </a:xfrm>
          <a:prstGeom prst="roundRect">
            <a:avLst>
              <a:gd name="adj" fmla="val 25263"/>
            </a:avLst>
          </a:prstGeom>
          <a:solidFill>
            <a:srgbClr val="2DD4BF"/>
          </a:solidFill>
          <a:ln/>
        </p:spPr>
      </p:sp>
      <p:pic>
        <p:nvPicPr>
          <p:cNvPr id="5" name="Image 0" descr="/private/tmp/claude-501/-Users-mac-customer-support-ticket-system/de92ad24-2f07-4c6f-84a0-0b4a335c3cf9/scratchpad/ppt/icons/mes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9991" y="206014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306324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3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397764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6126480"/>
            <a:ext cx="9997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PostgreSQL + pgvector  ·  React  ·  Google Gemini  ·  WebSockets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2026-09-24T19:13:45Z</dcterms:created>
  <dcterms:modified xsi:type="dcterms:W3CDTF">2026-09-24T19:13:45Z</dcterms:modified>
</cp:coreProperties>
</file>